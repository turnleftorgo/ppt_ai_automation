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 b="def" i="def"/>
      <a:tcStyle>
        <a:tcBdr/>
        <a:fill>
          <a:solidFill>
            <a:srgbClr val="FCE9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/>
          <p:nvPr/>
        </p:nvSpPr>
        <p:spPr>
          <a:xfrm>
            <a:off x="-95404" y="13391999"/>
            <a:ext cx="24516368" cy="45612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19000">
              <a:defRPr spc="-1" sz="4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1" name="Line"/>
          <p:cNvSpPr/>
          <p:nvPr/>
        </p:nvSpPr>
        <p:spPr>
          <a:xfrm>
            <a:off x="516957" y="1257119"/>
            <a:ext cx="23315763" cy="364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2" name="Table"/>
          <p:cNvGraphicFramePr/>
          <p:nvPr/>
        </p:nvGraphicFramePr>
        <p:xfrm>
          <a:off x="57240" y="13373278"/>
          <a:ext cx="24275162" cy="35352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1720"/>
                <a:gridCol w="8091720"/>
                <a:gridCol w="8091720"/>
              </a:tblGrid>
              <a:tr h="353520">
                <a:tc>
                  <a:txBody>
                    <a:bodyPr/>
                    <a:lstStyle/>
                    <a:p>
                      <a:pPr algn="l" defTabSz="1371600">
                        <a:defRPr spc="0" sz="1800"/>
                      </a:pPr>
                      <a:r>
                        <a:rPr spc="-1"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11/8/2021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defRPr spc="0" sz="1800"/>
                      </a:pPr>
                      <a:r>
                        <a:rPr spc="-1"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defRPr spc="0" sz="1800"/>
                      </a:pPr>
                      <a:r>
                        <a:rPr spc="-1"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12407620" y="13389698"/>
            <a:ext cx="362800" cy="363384"/>
          </a:xfrm>
          <a:prstGeom prst="rect">
            <a:avLst/>
          </a:prstGeom>
        </p:spPr>
        <p:txBody>
          <a:bodyPr lIns="76320" tIns="76320" rIns="76320" bIns="76320" anchor="b"/>
          <a:lstStyle>
            <a:lvl1pPr defTabSz="819000">
              <a:defRPr sz="14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"/>
          <p:cNvSpPr/>
          <p:nvPr/>
        </p:nvSpPr>
        <p:spPr>
          <a:xfrm>
            <a:off x="-88921" y="13398478"/>
            <a:ext cx="27075244" cy="468724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238399">
              <a:defRPr spc="-1"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</p:txBody>
      </p:sp>
      <p:sp>
        <p:nvSpPr>
          <p:cNvPr id="33" name="线条"/>
          <p:cNvSpPr/>
          <p:nvPr/>
        </p:nvSpPr>
        <p:spPr>
          <a:xfrm>
            <a:off x="516957" y="1244518"/>
            <a:ext cx="23315763" cy="364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34" name="Table 1-1"/>
          <p:cNvGraphicFramePr/>
          <p:nvPr/>
        </p:nvGraphicFramePr>
        <p:xfrm>
          <a:off x="76320" y="13347720"/>
          <a:ext cx="24291361" cy="36504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7119"/>
                <a:gridCol w="8097119"/>
                <a:gridCol w="8097119"/>
              </a:tblGrid>
              <a:tr h="365040">
                <a:tc>
                  <a:txBody>
                    <a:bodyPr/>
                    <a:lstStyle/>
                    <a:p>
                      <a:pPr>
                        <a:defRPr>
                          <a:sym typeface="Helvetica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pc="0" sz="1800"/>
                      </a:pPr>
                      <a:r>
                        <a:rPr spc="-1" sz="1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pc="0" sz="1800"/>
                      </a:pPr>
                      <a:r>
                        <a:rPr spc="-1" sz="1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Manufacturing Design - Apple Confidential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/>
          <p:nvPr>
            <p:ph type="sldNum" sz="quarter" idx="2"/>
          </p:nvPr>
        </p:nvSpPr>
        <p:spPr>
          <a:xfrm>
            <a:off x="12482222" y="13373278"/>
            <a:ext cx="283436" cy="287600"/>
          </a:xfrm>
          <a:prstGeom prst="rect">
            <a:avLst/>
          </a:prstGeom>
        </p:spPr>
        <p:txBody>
          <a:bodyPr/>
          <a:lstStyle>
            <a:lvl1pPr defTabSz="1238399">
              <a:defRPr sz="1200">
                <a:solidFill>
                  <a:srgbClr val="53585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/>
          <p:cNvSpPr/>
          <p:nvPr/>
        </p:nvSpPr>
        <p:spPr>
          <a:xfrm>
            <a:off x="-95404" y="13391999"/>
            <a:ext cx="24516368" cy="45612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19000">
              <a:defRPr spc="-1" sz="4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45" name="Line"/>
          <p:cNvSpPr/>
          <p:nvPr/>
        </p:nvSpPr>
        <p:spPr>
          <a:xfrm>
            <a:off x="516957" y="1257119"/>
            <a:ext cx="23315763" cy="364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46" name="Table"/>
          <p:cNvGraphicFramePr/>
          <p:nvPr/>
        </p:nvGraphicFramePr>
        <p:xfrm>
          <a:off x="57240" y="13373278"/>
          <a:ext cx="24275162" cy="34920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1720"/>
                <a:gridCol w="8091720"/>
                <a:gridCol w="8091720"/>
              </a:tblGrid>
              <a:tr h="349200">
                <a:tc>
                  <a:txBody>
                    <a:bodyPr/>
                    <a:lstStyle/>
                    <a:p>
                      <a:pPr algn="l" defTabSz="819000">
                        <a:defRPr spc="0" sz="1800"/>
                      </a:pPr>
                      <a:r>
                        <a:rPr spc="-1" sz="1200">
                          <a:latin typeface="Helvetica Neue Light"/>
                          <a:ea typeface="Helvetica Neue Light"/>
                          <a:cs typeface="Helvetica Neue Light"/>
                        </a:rPr>
                        <a:t>11/8/2021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000">
                        <a:defRPr spc="0" sz="1800"/>
                      </a:pPr>
                      <a:r>
                        <a:rPr spc="-1" sz="1200"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000">
                        <a:defRPr spc="0" sz="1800"/>
                      </a:pPr>
                      <a:r>
                        <a:rPr spc="-1" sz="1200"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xfrm>
            <a:off x="12407620" y="13389698"/>
            <a:ext cx="362800" cy="363384"/>
          </a:xfrm>
          <a:prstGeom prst="rect">
            <a:avLst/>
          </a:prstGeom>
        </p:spPr>
        <p:txBody>
          <a:bodyPr lIns="76320" tIns="76320" rIns="76320" bIns="76320" anchor="b"/>
          <a:lstStyle>
            <a:lvl1pPr defTabSz="819000">
              <a:defRPr sz="14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Apple Confidential–Internal Use Only"/>
          <p:cNvSpPr txBox="1"/>
          <p:nvPr/>
        </p:nvSpPr>
        <p:spPr>
          <a:xfrm>
            <a:off x="21313049" y="13372199"/>
            <a:ext cx="313203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pc="-1"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Apple Confidential–Internal Use Only</a:t>
            </a:r>
          </a:p>
        </p:txBody>
      </p:sp>
      <p:pic>
        <p:nvPicPr>
          <p:cNvPr id="57" name="160927 Apple Logo Black JB.ai" descr="160927 Apple Logo Black JB.a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3560" y="877678"/>
            <a:ext cx="1319401" cy="1319404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9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23965499" y="13042799"/>
            <a:ext cx="325861" cy="330121"/>
          </a:xfrm>
          <a:prstGeom prst="rect">
            <a:avLst/>
          </a:prstGeom>
        </p:spPr>
        <p:txBody>
          <a:bodyPr/>
          <a:lstStyle>
            <a:lvl1pPr algn="r" defTabSz="914400"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Apple Confidential–Internal Use Only"/>
          <p:cNvSpPr txBox="1"/>
          <p:nvPr/>
        </p:nvSpPr>
        <p:spPr>
          <a:xfrm>
            <a:off x="21313049" y="13372199"/>
            <a:ext cx="313203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pc="-1"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Apple Confidential–Internal Use Only</a:t>
            </a:r>
          </a:p>
        </p:txBody>
      </p:sp>
      <p:sp>
        <p:nvSpPr>
          <p:cNvPr id="68" name="reliability engineering"/>
          <p:cNvSpPr txBox="1"/>
          <p:nvPr/>
        </p:nvSpPr>
        <p:spPr>
          <a:xfrm>
            <a:off x="214200" y="13372199"/>
            <a:ext cx="19290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pc="-1"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reliability engineering</a:t>
            </a:r>
          </a:p>
        </p:txBody>
      </p:sp>
      <p:sp>
        <p:nvSpPr>
          <p:cNvPr id="6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0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1" name="Slide Number"/>
          <p:cNvSpPr txBox="1"/>
          <p:nvPr>
            <p:ph type="sldNum" sz="quarter" idx="2"/>
          </p:nvPr>
        </p:nvSpPr>
        <p:spPr>
          <a:xfrm>
            <a:off x="23962981" y="13042799"/>
            <a:ext cx="325861" cy="330121"/>
          </a:xfrm>
          <a:prstGeom prst="rect">
            <a:avLst/>
          </a:prstGeom>
        </p:spPr>
        <p:txBody>
          <a:bodyPr/>
          <a:lstStyle>
            <a:lvl1pPr algn="r" defTabSz="914400"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9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8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7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6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默认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5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預設簡報設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线条"/>
          <p:cNvSpPr/>
          <p:nvPr/>
        </p:nvSpPr>
        <p:spPr>
          <a:xfrm>
            <a:off x="592921" y="880919"/>
            <a:ext cx="23197683" cy="364"/>
          </a:xfrm>
          <a:prstGeom prst="line">
            <a:avLst/>
          </a:prstGeom>
          <a:ln w="12700">
            <a:solidFill>
              <a:srgbClr val="92929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6" name="Slide Number"/>
          <p:cNvSpPr txBox="1"/>
          <p:nvPr>
            <p:ph type="sldNum" sz="quarter" idx="2"/>
          </p:nvPr>
        </p:nvSpPr>
        <p:spPr>
          <a:xfrm>
            <a:off x="12085206" y="13160839"/>
            <a:ext cx="303108" cy="279401"/>
          </a:xfrm>
          <a:prstGeom prst="rect">
            <a:avLst/>
          </a:prstGeom>
        </p:spPr>
        <p:txBody>
          <a:bodyPr lIns="0" tIns="0" rIns="0" bIns="0" anchor="b"/>
          <a:lstStyle>
            <a:lvl1pPr defTabSz="584279">
              <a:defRPr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4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17248749" y="12712700"/>
            <a:ext cx="452905" cy="4609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默认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"/>
          <p:cNvSpPr/>
          <p:nvPr/>
        </p:nvSpPr>
        <p:spPr>
          <a:xfrm>
            <a:off x="-95404" y="13391999"/>
            <a:ext cx="24516368" cy="45612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19000">
              <a:defRPr spc="-1" sz="4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3" name="Line"/>
          <p:cNvSpPr/>
          <p:nvPr/>
        </p:nvSpPr>
        <p:spPr>
          <a:xfrm>
            <a:off x="516957" y="1257119"/>
            <a:ext cx="23315763" cy="364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4" name="Table"/>
          <p:cNvGraphicFramePr/>
          <p:nvPr/>
        </p:nvGraphicFramePr>
        <p:xfrm>
          <a:off x="57240" y="13373278"/>
          <a:ext cx="35204760" cy="51264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734920"/>
                <a:gridCol w="11734920"/>
                <a:gridCol w="11734920"/>
              </a:tblGrid>
              <a:tr h="512639">
                <a:tc>
                  <a:txBody>
                    <a:bodyPr/>
                    <a:lstStyle/>
                    <a:p>
                      <a:pPr>
                        <a:defRPr>
                          <a:sym typeface="Helvetica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defRPr spc="0" sz="1800"/>
                      </a:pPr>
                      <a:r>
                        <a:rPr spc="-1" sz="2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defRPr spc="0" sz="1800"/>
                      </a:pPr>
                      <a:r>
                        <a:rPr spc="-1" sz="2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6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pc="0">
                <a:latin typeface="+mn-lt"/>
                <a:ea typeface="+mn-ea"/>
                <a:cs typeface="+mn-cs"/>
                <a:sym typeface="Helvetica"/>
              </a:defRPr>
            </a:lvl1pPr>
            <a:lvl2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2pPr>
            <a:lvl3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3pPr>
            <a:lvl4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4pPr>
            <a:lvl5pPr>
              <a:spcBef>
                <a:spcPts val="0"/>
              </a:spcBef>
              <a:buClrTx/>
              <a:defRPr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1469362" y="9604120"/>
            <a:ext cx="334556" cy="338720"/>
          </a:xfrm>
          <a:prstGeom prst="rect">
            <a:avLst/>
          </a:prstGeom>
        </p:spPr>
        <p:txBody>
          <a:bodyPr lIns="76320" tIns="76320" rIns="76320" bIns="76320" anchor="b"/>
          <a:lstStyle>
            <a:lvl1pPr defTabSz="819000">
              <a:defRPr sz="12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206359" y="2575080"/>
            <a:ext cx="21970083" cy="4647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201319" y="11859838"/>
            <a:ext cx="21970083" cy="635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8828" y="13080959"/>
            <a:ext cx="452905" cy="460980"/>
          </a:xfrm>
          <a:prstGeom prst="rect">
            <a:avLst/>
          </a:prstGeom>
          <a:ln w="12700">
            <a:miter lim="400000"/>
          </a:ln>
        </p:spPr>
        <p:txBody>
          <a:bodyPr wrap="none" lIns="50760" tIns="50760" rIns="50760" bIns="50760">
            <a:spAutoFit/>
          </a:bodyPr>
          <a:lstStyle>
            <a:lvl1pPr algn="ctr" defTabSz="825480">
              <a:defRPr spc="-1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31999" marR="0" indent="-323998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文字方塊 3"/>
          <p:cNvSpPr txBox="1"/>
          <p:nvPr/>
        </p:nvSpPr>
        <p:spPr>
          <a:xfrm>
            <a:off x="6506997" y="431999"/>
            <a:ext cx="11295726" cy="55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 algn="ctr" defTabSz="825480">
              <a:defRPr b="1" spc="-1" sz="3000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/>
            <a:r>
              <a:t>5C Report</a:t>
            </a:r>
          </a:p>
        </p:txBody>
      </p:sp>
      <p:graphicFrame>
        <p:nvGraphicFramePr>
          <p:cNvPr id="157" name="表格 5"/>
          <p:cNvGraphicFramePr/>
          <p:nvPr/>
        </p:nvGraphicFramePr>
        <p:xfrm>
          <a:off x="4064039" y="1439279"/>
          <a:ext cx="16255441" cy="112114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799799"/>
                <a:gridCol w="7037280"/>
                <a:gridCol w="5418360"/>
              </a:tblGrid>
              <a:tr h="895319">
                <a:tc rowSpan="3"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b="1" spc="-1" sz="24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Characterize</a:t>
                      </a:r>
                    </a:p>
                  </a:txBody>
                  <a:tcPr marL="45720" marR="45720" marT="45720" marB="45720" anchor="ctr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Radar#（雷達號）:  {TXT_RADAR_NO} 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Issue Title（報告主題）： {TXT_ISSUE_TITLE} 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95319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Date（日期）:{TXT_DATE} 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Description（問題描述）：{TXT_DESC} 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95319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Champion（相關團隊成員）:{TXT_CHAMPION}  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95319"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b="1" spc="-1" sz="24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Contain</a:t>
                      </a:r>
                    </a:p>
                  </a:txBody>
                  <a:tcPr marL="45720" marR="45720" marT="45720" marB="45720" anchor="ctr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Containment（圍堵措施）: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pc="0" sz="1800"/>
                      </a:pPr>
                      <a:r>
                        <a:rPr>
                          <a:sym typeface="Helvetica"/>
                        </a:rPr>
                        <a:t>{Fill_in_list_of_containment_actions}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97000">
                <a:tc rowSpan="2"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b="1" spc="-1" sz="24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Cause</a:t>
                      </a:r>
                    </a:p>
                  </a:txBody>
                  <a:tcPr marL="45720" marR="45720" marT="45720" marB="45720" anchor="ctr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Root Cause（根本原因）: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pc="0" sz="1800"/>
                      </a:pPr>
                      <a:r>
                        <a:rPr>
                          <a:sym typeface="Helvetica"/>
                        </a:rPr>
                        <a:t>{Fill_in_list_of_root_cause}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6324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Escape Cause（不良流出原因）: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{Fill_in_list_of_escape_causes}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80160">
                <a:tc rowSpan="2"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b="1" spc="-1" sz="24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Corrective Action</a:t>
                      </a:r>
                    </a:p>
                  </a:txBody>
                  <a:tcPr marL="45720" marR="45720" marT="45720" marB="45720" anchor="ctr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Corrective Action（改善措施）: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{Fill_in_list_of_corrective_actions}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34640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Preventive Action（預防措施）: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{Fill_in_list_of_preventive_actions}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30120">
                <a:tc rowSpan="2"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b="1" spc="-1" sz="24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Closure</a:t>
                      </a:r>
                    </a:p>
                  </a:txBody>
                  <a:tcPr marL="45720" marR="45720" marT="45720" marB="45720" anchor="ctr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Verification（品質確認）: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{TXT_VERIFICATION} 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31328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Review Results（效果追蹤）：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pc="0" sz="1800"/>
                      </a:pPr>
                      <a:r>
                        <a:rPr spc="-1" sz="12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rPr>
                        <a:t>{TXT_REVIEW_RESULTS} </a:t>
                      </a: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 txBox="1"/>
          <p:nvPr/>
        </p:nvSpPr>
        <p:spPr>
          <a:xfrm>
            <a:off x="445208" y="468980"/>
            <a:ext cx="1640841" cy="612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9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参考资料</a:t>
            </a:r>
          </a:p>
        </p:txBody>
      </p:sp>
      <p:sp>
        <p:nvSpPr>
          <p:cNvPr id="160" name="TextBox 2"/>
          <p:cNvSpPr txBox="1"/>
          <p:nvPr/>
        </p:nvSpPr>
        <p:spPr>
          <a:xfrm>
            <a:off x="647699" y="1739899"/>
            <a:ext cx="9535167" cy="27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{Related_text}</a:t>
            </a:r>
          </a:p>
        </p:txBody>
      </p:sp>
      <p:sp>
        <p:nvSpPr>
          <p:cNvPr id="161" name="TextBox 3"/>
          <p:cNvSpPr txBox="1"/>
          <p:nvPr/>
        </p:nvSpPr>
        <p:spPr>
          <a:xfrm>
            <a:off x="11671300" y="1739899"/>
            <a:ext cx="11694167" cy="27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{Related_text_2}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