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9D1E1"/>
          </a:solidFill>
        </a:fill>
      </a:tcStyle>
    </a:wholeTbl>
    <a:band2H>
      <a:tcTxStyle b="def" i="def"/>
      <a:tcStyle>
        <a:tcBdr/>
        <a:fill>
          <a:solidFill>
            <a:srgbClr val="FCE9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15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4" name="Shape 15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"/>
          <p:cNvSpPr/>
          <p:nvPr/>
        </p:nvSpPr>
        <p:spPr>
          <a:xfrm>
            <a:off x="-95402" y="13391999"/>
            <a:ext cx="24516364" cy="45612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21" name="Line"/>
          <p:cNvSpPr/>
          <p:nvPr/>
        </p:nvSpPr>
        <p:spPr>
          <a:xfrm>
            <a:off x="516959" y="1257119"/>
            <a:ext cx="23315763" cy="362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22" name="Table"/>
          <p:cNvGraphicFramePr/>
          <p:nvPr/>
        </p:nvGraphicFramePr>
        <p:xfrm>
          <a:off x="57240" y="13373278"/>
          <a:ext cx="24275162" cy="35352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1720"/>
                <a:gridCol w="8091720"/>
                <a:gridCol w="8091720"/>
              </a:tblGrid>
              <a:tr h="353520">
                <a:tc>
                  <a:txBody>
                    <a:bodyPr/>
                    <a:lstStyle/>
                    <a:p>
                      <a:pPr algn="l"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4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xfrm>
            <a:off x="12407620" y="13389697"/>
            <a:ext cx="362800" cy="363384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"/>
          <p:cNvSpPr/>
          <p:nvPr/>
        </p:nvSpPr>
        <p:spPr>
          <a:xfrm>
            <a:off x="-88921" y="13398478"/>
            <a:ext cx="27075244" cy="468722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1238399">
              <a:defRPr spc="-1" sz="48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</a:p>
        </p:txBody>
      </p:sp>
      <p:sp>
        <p:nvSpPr>
          <p:cNvPr id="33" name="线条"/>
          <p:cNvSpPr/>
          <p:nvPr/>
        </p:nvSpPr>
        <p:spPr>
          <a:xfrm>
            <a:off x="516959" y="1244518"/>
            <a:ext cx="23315763" cy="362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34" name="Table 1-1"/>
          <p:cNvGraphicFramePr/>
          <p:nvPr/>
        </p:nvGraphicFramePr>
        <p:xfrm>
          <a:off x="76320" y="13347720"/>
          <a:ext cx="24291361" cy="3650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7119"/>
                <a:gridCol w="8097119"/>
                <a:gridCol w="8097119"/>
              </a:tblGrid>
              <a:tr h="365040">
                <a:tc>
                  <a:txBody>
                    <a:bodyPr/>
                    <a:lstStyle/>
                    <a:p>
                      <a:pPr>
                        <a:defRPr>
                          <a:sym typeface="Helvetica"/>
                        </a:defRPr>
                      </a:pP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pc="0" sz="1800"/>
                      </a:pPr>
                      <a:r>
                        <a:rPr spc="-1"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pc="0" sz="1800"/>
                      </a:pPr>
                      <a:r>
                        <a:rPr spc="-1"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Manufacturing Design - Apple Confidential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3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xfrm>
            <a:off x="12482222" y="13373278"/>
            <a:ext cx="283436" cy="287600"/>
          </a:xfrm>
          <a:prstGeom prst="rect">
            <a:avLst/>
          </a:prstGeom>
        </p:spPr>
        <p:txBody>
          <a:bodyPr/>
          <a:lstStyle>
            <a:lvl1pPr defTabSz="1238399">
              <a:defRPr sz="1200">
                <a:solidFill>
                  <a:srgbClr val="53585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"/>
          <p:cNvSpPr/>
          <p:nvPr/>
        </p:nvSpPr>
        <p:spPr>
          <a:xfrm>
            <a:off x="-95402" y="13391999"/>
            <a:ext cx="24516364" cy="45612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45" name="Line"/>
          <p:cNvSpPr/>
          <p:nvPr/>
        </p:nvSpPr>
        <p:spPr>
          <a:xfrm>
            <a:off x="516959" y="1257119"/>
            <a:ext cx="23315763" cy="362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46" name="Table"/>
          <p:cNvGraphicFramePr/>
          <p:nvPr/>
        </p:nvGraphicFramePr>
        <p:xfrm>
          <a:off x="57240" y="13373278"/>
          <a:ext cx="24275162" cy="3492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1720"/>
                <a:gridCol w="8091720"/>
                <a:gridCol w="8091720"/>
              </a:tblGrid>
              <a:tr h="349200"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xfrm>
            <a:off x="12407620" y="13389697"/>
            <a:ext cx="362800" cy="363384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Apple Confidential–Internal Use Only"/>
          <p:cNvSpPr txBox="1"/>
          <p:nvPr/>
        </p:nvSpPr>
        <p:spPr>
          <a:xfrm>
            <a:off x="21313049" y="13372199"/>
            <a:ext cx="31320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pic>
        <p:nvPicPr>
          <p:cNvPr id="57" name="160927 Apple Logo Black JB.ai" descr="160927 Apple Logo Black JB.a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3560" y="877678"/>
            <a:ext cx="1319401" cy="13194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9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23965499" y="13042799"/>
            <a:ext cx="325861" cy="330121"/>
          </a:xfrm>
          <a:prstGeom prst="rect">
            <a:avLst/>
          </a:prstGeom>
        </p:spPr>
        <p:txBody>
          <a:bodyPr/>
          <a:lstStyle>
            <a:lvl1pPr algn="r" defTabSz="914400"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Apple Confidential–Internal Use Only"/>
          <p:cNvSpPr txBox="1"/>
          <p:nvPr/>
        </p:nvSpPr>
        <p:spPr>
          <a:xfrm>
            <a:off x="21313049" y="13372199"/>
            <a:ext cx="31320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68" name="reliability engineering"/>
          <p:cNvSpPr txBox="1"/>
          <p:nvPr/>
        </p:nvSpPr>
        <p:spPr>
          <a:xfrm>
            <a:off x="214200" y="13372199"/>
            <a:ext cx="1929024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reliability engineering</a:t>
            </a:r>
          </a:p>
        </p:txBody>
      </p:sp>
      <p:sp>
        <p:nvSpPr>
          <p:cNvPr id="6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0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" name="Slide Number"/>
          <p:cNvSpPr txBox="1"/>
          <p:nvPr>
            <p:ph type="sldNum" sz="quarter" idx="2"/>
          </p:nvPr>
        </p:nvSpPr>
        <p:spPr>
          <a:xfrm>
            <a:off x="23962981" y="13042799"/>
            <a:ext cx="325861" cy="330121"/>
          </a:xfrm>
          <a:prstGeom prst="rect">
            <a:avLst/>
          </a:prstGeom>
        </p:spPr>
        <p:txBody>
          <a:bodyPr/>
          <a:lstStyle>
            <a:lvl1pPr algn="r" defTabSz="914400"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9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88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97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5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线条"/>
          <p:cNvSpPr/>
          <p:nvPr/>
        </p:nvSpPr>
        <p:spPr>
          <a:xfrm>
            <a:off x="592919" y="880919"/>
            <a:ext cx="23197683" cy="362"/>
          </a:xfrm>
          <a:prstGeom prst="line">
            <a:avLst/>
          </a:prstGeom>
          <a:ln w="12700">
            <a:solidFill>
              <a:srgbClr val="929292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25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6" name="Slide Number"/>
          <p:cNvSpPr txBox="1"/>
          <p:nvPr>
            <p:ph type="sldNum" sz="quarter" idx="2"/>
          </p:nvPr>
        </p:nvSpPr>
        <p:spPr>
          <a:xfrm>
            <a:off x="12085206" y="13160839"/>
            <a:ext cx="303108" cy="279401"/>
          </a:xfrm>
          <a:prstGeom prst="rect">
            <a:avLst/>
          </a:prstGeom>
        </p:spPr>
        <p:txBody>
          <a:bodyPr lIns="0" tIns="0" rIns="0" bIns="0" anchor="b"/>
          <a:lstStyle>
            <a:lvl1pPr defTabSz="584279">
              <a:defRPr sz="18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4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xfrm>
            <a:off x="17248748" y="12712700"/>
            <a:ext cx="452904" cy="46097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"/>
          <p:cNvSpPr/>
          <p:nvPr/>
        </p:nvSpPr>
        <p:spPr>
          <a:xfrm>
            <a:off x="-95402" y="13391999"/>
            <a:ext cx="24516364" cy="45612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143" name="Line"/>
          <p:cNvSpPr/>
          <p:nvPr/>
        </p:nvSpPr>
        <p:spPr>
          <a:xfrm>
            <a:off x="516959" y="1257119"/>
            <a:ext cx="23315763" cy="362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44" name="Table"/>
          <p:cNvGraphicFramePr/>
          <p:nvPr/>
        </p:nvGraphicFramePr>
        <p:xfrm>
          <a:off x="57240" y="13373278"/>
          <a:ext cx="35204760" cy="5126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734920"/>
                <a:gridCol w="11734920"/>
                <a:gridCol w="11734920"/>
              </a:tblGrid>
              <a:tr h="512639">
                <a:tc>
                  <a:txBody>
                    <a:bodyPr/>
                    <a:lstStyle/>
                    <a:p>
                      <a:pPr>
                        <a:defRPr>
                          <a:sym typeface="Helvetica"/>
                        </a:defRPr>
                      </a:pP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defRPr spc="0" sz="1800"/>
                      </a:pPr>
                      <a:r>
                        <a:rPr spc="-1"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defRPr spc="0" sz="1800"/>
                      </a:pPr>
                      <a:r>
                        <a:rPr spc="-1"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4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None/>
              <a:defRPr spc="0">
                <a:latin typeface="+mn-lt"/>
                <a:ea typeface="+mn-ea"/>
                <a:cs typeface="+mn-cs"/>
                <a:sym typeface="Helvetica"/>
              </a:defRPr>
            </a:lvl1pPr>
            <a:lvl2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2pPr>
            <a:lvl3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3pPr>
            <a:lvl4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4pPr>
            <a:lvl5pPr indent="0">
              <a:spcBef>
                <a:spcPts val="0"/>
              </a:spcBef>
              <a:buClrTx/>
              <a:defRPr spc="0">
                <a:latin typeface="+mn-lt"/>
                <a:ea typeface="+mn-ea"/>
                <a:cs typeface="+mn-cs"/>
                <a:sym typeface="Helvetic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xfrm>
            <a:off x="11469362" y="9604120"/>
            <a:ext cx="334556" cy="338720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2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206359" y="2575080"/>
            <a:ext cx="21970083" cy="4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201319" y="11859838"/>
            <a:ext cx="21970083" cy="635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58828" y="13080959"/>
            <a:ext cx="452905" cy="460980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>
            <a:spAutoFit/>
          </a:bodyPr>
          <a:lstStyle>
            <a:lvl1pPr algn="ctr" defTabSz="825480">
              <a:defRPr spc="-1"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431999" marR="0" indent="-323998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539999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1007998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1511999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1943999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2375999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2807999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文字方塊 3"/>
          <p:cNvSpPr txBox="1"/>
          <p:nvPr/>
        </p:nvSpPr>
        <p:spPr>
          <a:xfrm>
            <a:off x="6506998" y="431999"/>
            <a:ext cx="11295723" cy="558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825480">
              <a:defRPr b="1" spc="-1" sz="3000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5C Report</a:t>
            </a:r>
          </a:p>
        </p:txBody>
      </p:sp>
      <p:graphicFrame>
        <p:nvGraphicFramePr>
          <p:cNvPr id="157" name="表格 5"/>
          <p:cNvGraphicFramePr/>
          <p:nvPr/>
        </p:nvGraphicFramePr>
        <p:xfrm>
          <a:off x="4064039" y="1439279"/>
          <a:ext cx="16255441" cy="1121148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799799"/>
                <a:gridCol w="7037280"/>
                <a:gridCol w="5418360"/>
              </a:tblGrid>
              <a:tr h="895319">
                <a:tc rowSpan="3"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b="1" spc="-1" sz="24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Characterize</a:t>
                      </a:r>
                    </a:p>
                  </a:txBody>
                  <a:tcPr marL="45720" marR="45720" marT="45720" marB="4572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Radar#（雷達號）:  {TXT_RADAR_NO}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Issue Title（報告主題）： {TXT_ISSUE_TITLE}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895319">
                <a:tc vMerge="1">
                  <a:txBody>
                    <a:bodyPr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Date（日期）:{TXT_DATE}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Description（問題描述）：{TXT_DESC}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895319">
                <a:tc vMerge="1">
                  <a:txBody>
                    <a:bodyPr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Champion（相關團隊成員）:{TXT_CHAMPION} 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ym typeface="Helvetica"/>
                        </a:defRPr>
                      </a:pP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895319"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b="1" spc="-1" sz="24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Contain</a:t>
                      </a:r>
                    </a:p>
                  </a:txBody>
                  <a:tcPr marL="45720" marR="45720" marT="45720" marB="4572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Containment（圍堵措施）: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pc="0" sz="1800"/>
                      </a:pPr>
                      <a:r>
                        <a:rPr>
                          <a:sym typeface="Helvetica"/>
                        </a:rPr>
                        <a:t>{Fill_in_list_of_containment_actions}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197000">
                <a:tc rowSpan="2"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b="1" spc="-1" sz="24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Cause</a:t>
                      </a:r>
                    </a:p>
                  </a:txBody>
                  <a:tcPr marL="45720" marR="45720" marT="45720" marB="4572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Root Cause（根本原因）: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pc="0" sz="1800"/>
                      </a:pPr>
                      <a:r>
                        <a:rPr>
                          <a:sym typeface="Helvetica"/>
                        </a:rPr>
                        <a:t>{Fill_in_list_of_root_cause}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63240">
                <a:tc vMerge="1">
                  <a:txBody>
                    <a:bodyPr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Escape Cause（不良流出原因）: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{Fill_in_list_of_escape_causes}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0160">
                <a:tc rowSpan="2"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b="1" spc="-1" sz="24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Corrective Action</a:t>
                      </a:r>
                    </a:p>
                  </a:txBody>
                  <a:tcPr marL="45720" marR="45720" marT="45720" marB="4572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Corrective Action（改善措施）: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{Fill_in_list_of_corrective_actions}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346400">
                <a:tc vMerge="1">
                  <a:txBody>
                    <a:bodyPr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Preventive Action（預防措施）: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{Fill_in_list_of_preventive_actions}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30120">
                <a:tc rowSpan="2"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b="1" spc="-1" sz="24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Closure</a:t>
                      </a:r>
                    </a:p>
                  </a:txBody>
                  <a:tcPr marL="45720" marR="45720" marT="45720" marB="4572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Verification（品質確認）: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{TXT_VERIFICATION}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313280">
                <a:tc vMerge="1">
                  <a:txBody>
                    <a:bodyPr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Review Results（效果追蹤）：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pc="0" sz="1800"/>
                      </a:pPr>
                      <a:r>
                        <a:rPr spc="-1"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rPr>
                        <a:t>{TXT_REVIEW_RESULTS} 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1"/>
          <p:cNvSpPr txBox="1"/>
          <p:nvPr/>
        </p:nvSpPr>
        <p:spPr>
          <a:xfrm>
            <a:off x="1669305" y="501624"/>
            <a:ext cx="1640841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9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参考资料</a:t>
            </a:r>
          </a:p>
        </p:txBody>
      </p:sp>
      <p:sp>
        <p:nvSpPr>
          <p:cNvPr id="160" name="TextBox 2"/>
          <p:cNvSpPr txBox="1"/>
          <p:nvPr/>
        </p:nvSpPr>
        <p:spPr>
          <a:xfrm>
            <a:off x="452118" y="7239000"/>
            <a:ext cx="9535164" cy="277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{Related_text}</a:t>
            </a:r>
          </a:p>
        </p:txBody>
      </p:sp>
      <p:sp>
        <p:nvSpPr>
          <p:cNvPr id="161" name="TextBox 3"/>
          <p:cNvSpPr txBox="1"/>
          <p:nvPr/>
        </p:nvSpPr>
        <p:spPr>
          <a:xfrm>
            <a:off x="10828019" y="7239000"/>
            <a:ext cx="11694167" cy="2775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{Related_text_2}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