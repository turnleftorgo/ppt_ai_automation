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Helvetica Neue Medium"/>
        <a:ea typeface="Helvetica Neue Medium"/>
        <a:cs typeface="Helvetica Neue Medium"/>
        <a:sym typeface="Helvetica Neue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-95401" y="13391999"/>
            <a:ext cx="24517082" cy="456841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1" name="Line"/>
          <p:cNvSpPr/>
          <p:nvPr/>
        </p:nvSpPr>
        <p:spPr>
          <a:xfrm>
            <a:off x="516960" y="1257119"/>
            <a:ext cx="23315761" cy="361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22" name="Table"/>
          <p:cNvGraphicFramePr/>
          <p:nvPr/>
        </p:nvGraphicFramePr>
        <p:xfrm>
          <a:off x="57240" y="13373279"/>
          <a:ext cx="24275161" cy="3535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1720"/>
                <a:gridCol w="8091720"/>
                <a:gridCol w="8091720"/>
              </a:tblGrid>
              <a:tr h="353520">
                <a:tc>
                  <a:txBody>
                    <a:bodyPr/>
                    <a:lstStyle/>
                    <a:p>
                      <a:pPr algn="l"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defRPr spc="0" sz="1800"/>
                      </a:pPr>
                      <a:r>
                        <a:rPr spc="-1"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12407980" y="13390418"/>
            <a:ext cx="362800" cy="363383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"/>
          <p:cNvSpPr/>
          <p:nvPr/>
        </p:nvSpPr>
        <p:spPr>
          <a:xfrm>
            <a:off x="-88920" y="13398479"/>
            <a:ext cx="27075960" cy="469441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238399">
              <a:defRPr spc="-1"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</p:txBody>
      </p:sp>
      <p:sp>
        <p:nvSpPr>
          <p:cNvPr id="33" name="线条"/>
          <p:cNvSpPr/>
          <p:nvPr/>
        </p:nvSpPr>
        <p:spPr>
          <a:xfrm>
            <a:off x="516960" y="1244519"/>
            <a:ext cx="23315761" cy="1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34" name="Table 1-1"/>
          <p:cNvGraphicFramePr/>
          <p:nvPr/>
        </p:nvGraphicFramePr>
        <p:xfrm>
          <a:off x="76320" y="13347720"/>
          <a:ext cx="24291360" cy="3650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7119"/>
                <a:gridCol w="8097119"/>
                <a:gridCol w="8097119"/>
              </a:tblGrid>
              <a:tr h="365040">
                <a:tc>
                  <a:txBody>
                    <a:bodyPr/>
                    <a:lstStyle/>
                    <a:p>
                      <a:pPr algn="l" defTabSz="914400">
                        <a:defRPr spc="0" sz="1800">
                          <a:sym typeface="Helvetica Neue Medium"/>
                        </a:defRPr>
                      </a:pP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pc="0" sz="1800"/>
                      </a:pPr>
                      <a:r>
                        <a:rPr spc="-1"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pc="0" sz="1800"/>
                      </a:pPr>
                      <a:r>
                        <a:rPr spc="-1"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Manufacturing Design - Apple Confidential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xfrm>
            <a:off x="12482582" y="13373279"/>
            <a:ext cx="283436" cy="287601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defTabSz="1238399">
              <a:defRPr sz="1200">
                <a:solidFill>
                  <a:srgbClr val="53585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"/>
          <p:cNvSpPr/>
          <p:nvPr/>
        </p:nvSpPr>
        <p:spPr>
          <a:xfrm>
            <a:off x="-95401" y="13391999"/>
            <a:ext cx="24517082" cy="456841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45" name="Line"/>
          <p:cNvSpPr/>
          <p:nvPr/>
        </p:nvSpPr>
        <p:spPr>
          <a:xfrm>
            <a:off x="516960" y="1257119"/>
            <a:ext cx="23315761" cy="361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46" name="Table"/>
          <p:cNvGraphicFramePr/>
          <p:nvPr/>
        </p:nvGraphicFramePr>
        <p:xfrm>
          <a:off x="57240" y="13373279"/>
          <a:ext cx="24275161" cy="3492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1720"/>
                <a:gridCol w="8091720"/>
                <a:gridCol w="8091720"/>
              </a:tblGrid>
              <a:tr h="349200"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000">
                        <a:defRPr spc="0" sz="1800"/>
                      </a:pPr>
                      <a:r>
                        <a:rPr spc="-1" sz="1200"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xfrm>
            <a:off x="12407980" y="13390418"/>
            <a:ext cx="362800" cy="363383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Apple Confidential–Internal Use Only"/>
          <p:cNvSpPr txBox="1"/>
          <p:nvPr/>
        </p:nvSpPr>
        <p:spPr>
          <a:xfrm>
            <a:off x="21313049" y="13372919"/>
            <a:ext cx="313203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pic>
        <p:nvPicPr>
          <p:cNvPr id="57" name="160927 Apple Logo Black JB.ai" descr="160927 Apple Logo Black JB.a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560" y="877679"/>
            <a:ext cx="1320121" cy="132012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23966219" y="13042799"/>
            <a:ext cx="325861" cy="330121"/>
          </a:xfrm>
          <a:prstGeom prst="rect">
            <a:avLst/>
          </a:prstGeom>
        </p:spPr>
        <p:txBody>
          <a:bodyPr/>
          <a:lstStyle>
            <a:lvl1pPr algn="r" defTabSz="914400"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Apple Confidential–Internal Use Only"/>
          <p:cNvSpPr txBox="1"/>
          <p:nvPr/>
        </p:nvSpPr>
        <p:spPr>
          <a:xfrm>
            <a:off x="21313049" y="13372919"/>
            <a:ext cx="313203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68" name="reliability engineering"/>
          <p:cNvSpPr txBox="1"/>
          <p:nvPr/>
        </p:nvSpPr>
        <p:spPr>
          <a:xfrm>
            <a:off x="214199" y="13372919"/>
            <a:ext cx="192909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pc="-1"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reliability engineering</a:t>
            </a:r>
          </a:p>
        </p:txBody>
      </p:sp>
      <p:sp>
        <p:nvSpPr>
          <p:cNvPr id="6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xfrm>
            <a:off x="23963700" y="13042799"/>
            <a:ext cx="325861" cy="330121"/>
          </a:xfrm>
          <a:prstGeom prst="rect">
            <a:avLst/>
          </a:prstGeom>
        </p:spPr>
        <p:txBody>
          <a:bodyPr/>
          <a:lstStyle>
            <a:lvl1pPr algn="r" defTabSz="914400"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9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线条"/>
          <p:cNvSpPr/>
          <p:nvPr/>
        </p:nvSpPr>
        <p:spPr>
          <a:xfrm>
            <a:off x="592919" y="880919"/>
            <a:ext cx="23197682" cy="1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Slide Number"/>
          <p:cNvSpPr txBox="1"/>
          <p:nvPr>
            <p:ph type="sldNum" sz="quarter" idx="2"/>
          </p:nvPr>
        </p:nvSpPr>
        <p:spPr>
          <a:xfrm>
            <a:off x="12085566" y="13161559"/>
            <a:ext cx="303108" cy="279401"/>
          </a:xfrm>
          <a:prstGeom prst="rect">
            <a:avLst/>
          </a:prstGeom>
        </p:spPr>
        <p:txBody>
          <a:bodyPr lIns="0" tIns="0" rIns="0" bIns="0" anchor="b"/>
          <a:lstStyle>
            <a:lvl1pPr defTabSz="584279">
              <a:defRPr sz="1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4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4630400" y="12712700"/>
            <a:ext cx="5689600" cy="736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"/>
          <p:cNvSpPr/>
          <p:nvPr/>
        </p:nvSpPr>
        <p:spPr>
          <a:xfrm>
            <a:off x="-95401" y="13391999"/>
            <a:ext cx="24517082" cy="456841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819000">
              <a:defRPr spc="-1" sz="48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3" name="Line"/>
          <p:cNvSpPr/>
          <p:nvPr/>
        </p:nvSpPr>
        <p:spPr>
          <a:xfrm>
            <a:off x="516960" y="1257119"/>
            <a:ext cx="23315761" cy="1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144" name="Table"/>
          <p:cNvGraphicFramePr/>
          <p:nvPr/>
        </p:nvGraphicFramePr>
        <p:xfrm>
          <a:off x="57240" y="13373279"/>
          <a:ext cx="35204760" cy="5126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734920"/>
                <a:gridCol w="11734920"/>
                <a:gridCol w="11734920"/>
              </a:tblGrid>
              <a:tr h="512639">
                <a:tc>
                  <a:txBody>
                    <a:bodyPr/>
                    <a:lstStyle/>
                    <a:p>
                      <a:pPr algn="l" defTabSz="914400">
                        <a:defRPr spc="0" sz="1800">
                          <a:sym typeface="Helvetica Neue Medium"/>
                        </a:defRPr>
                      </a:pP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defRPr spc="0" sz="1800"/>
                      </a:pPr>
                      <a:r>
                        <a:rPr spc="-1"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defRPr spc="0" sz="1800"/>
                      </a:pPr>
                      <a:r>
                        <a:rPr spc="-1"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760" marR="50760" marT="50760" marB="5076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l" defTabSz="914400"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6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1469722" y="9604840"/>
            <a:ext cx="334556" cy="338720"/>
          </a:xfrm>
          <a:prstGeom prst="rect">
            <a:avLst/>
          </a:prstGeom>
        </p:spPr>
        <p:txBody>
          <a:bodyPr lIns="76320" tIns="76320" rIns="76320" bIns="76320" anchor="b"/>
          <a:lstStyle>
            <a:lvl1pPr defTabSz="819000">
              <a:defRPr sz="12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206359" y="2575080"/>
            <a:ext cx="21970802" cy="4647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201319" y="11859839"/>
            <a:ext cx="21970801" cy="636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188" y="13080959"/>
            <a:ext cx="452905" cy="460980"/>
          </a:xfrm>
          <a:prstGeom prst="rect">
            <a:avLst/>
          </a:prstGeom>
          <a:ln w="12700">
            <a:miter lim="400000"/>
          </a:ln>
        </p:spPr>
        <p:txBody>
          <a:bodyPr wrap="none" lIns="50760" tIns="50760" rIns="50760" bIns="50760">
            <a:spAutoFit/>
          </a:bodyPr>
          <a:lstStyle>
            <a:lvl1pPr algn="ctr" defTabSz="825480">
              <a:defRPr spc="-1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4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字方塊 3"/>
          <p:cNvSpPr txBox="1"/>
          <p:nvPr/>
        </p:nvSpPr>
        <p:spPr>
          <a:xfrm>
            <a:off x="6506999" y="431999"/>
            <a:ext cx="11296441" cy="558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760" tIns="50760" rIns="50760" bIns="50760" anchor="ctr">
            <a:spAutoFit/>
          </a:bodyPr>
          <a:lstStyle>
            <a:lvl1pPr algn="ctr" defTabSz="825480">
              <a:defRPr b="1" spc="-1" sz="3000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8D Report</a:t>
            </a:r>
          </a:p>
        </p:txBody>
      </p:sp>
      <p:graphicFrame>
        <p:nvGraphicFramePr>
          <p:cNvPr id="157" name="表格 2"/>
          <p:cNvGraphicFramePr/>
          <p:nvPr/>
        </p:nvGraphicFramePr>
        <p:xfrm>
          <a:off x="4064039" y="1439279"/>
          <a:ext cx="16255801" cy="29664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6255800"/>
              </a:tblGrid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D1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Establish the Team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{user input establish the team}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D2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Describe the Problem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{user input description}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D3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Containment Actions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{Fill_in_predicted_containment}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{user input containment}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D4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Root Cause Analysis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{Fill_in_predicted_causes}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{user input causes}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D5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Corrective Actions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{Fill_in_list_of_corrective_actions}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D6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Preventive Actions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{Fill_in_list_of_preventive_actions}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D7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Effectiveness Verification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{Fill_in_verification}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70800">
                <a:tc>
                  <a:txBody>
                    <a:bodyPr/>
                    <a:lstStyle/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2400" b="1"/>
                        <a:t>D8</a:t>
                      </a:r>
                      <a:r>
                        <a:rPr sz="2400" b="1"/>
                        <a:t>：</a:t>
                      </a:r>
                      <a:r>
                        <a:rPr sz="2400" b="1"/>
                        <a:t>Congratulate the Team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>
                        <a:defRPr sz="2000">
                          <a:latin typeface="微軟正黑體"/>
                          <a:ea typeface="微軟正黑體"/>
                          <a:cs typeface="微軟正黑體"/>
                          <a:sym typeface="微軟正黑體"/>
                        </a:defRPr>
                      </a:pPr>
                      <a:r>
                        <a:rPr sz="1200"/>
                        <a:t>{user input congratulate}</a:t>
                      </a:r>
                      <a:endParaRPr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0" marR="45720" marT="45720" marB="45720" anchor="t" anchorCtr="0" horzOverflow="overflow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1669305" y="501623"/>
            <a:ext cx="164084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000"/>
            </a:lvl1pPr>
          </a:lstStyle>
          <a:p>
            <a:pPr/>
            <a:r>
              <a:t>参考资料</a:t>
            </a:r>
          </a:p>
        </p:txBody>
      </p:sp>
      <p:sp>
        <p:nvSpPr>
          <p:cNvPr id="160" name="TextBox 2"/>
          <p:cNvSpPr txBox="1"/>
          <p:nvPr/>
        </p:nvSpPr>
        <p:spPr>
          <a:xfrm>
            <a:off x="401319" y="7238999"/>
            <a:ext cx="9624061" cy="27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{Related_text}</a:t>
            </a:r>
          </a:p>
        </p:txBody>
      </p:sp>
      <p:sp>
        <p:nvSpPr>
          <p:cNvPr id="161" name="TextBox 3"/>
          <p:cNvSpPr txBox="1"/>
          <p:nvPr/>
        </p:nvSpPr>
        <p:spPr>
          <a:xfrm>
            <a:off x="10777218" y="7238999"/>
            <a:ext cx="11783067" cy="27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/>
            </a:lvl1pPr>
          </a:lstStyle>
          <a:p>
            <a:pPr/>
            <a:r>
              <a:t>{Related_text_2}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