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9D1E1"/>
          </a:solidFill>
        </a:fill>
      </a:tcStyle>
    </a:wholeTbl>
    <a:band2H>
      <a:tcTxStyle b="def" i="def"/>
      <a:tcStyle>
        <a:tcBdr/>
        <a:fill>
          <a:solidFill>
            <a:srgbClr val="FCE9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153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54" name="Shape 154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 (Categori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"/>
          <p:cNvSpPr/>
          <p:nvPr/>
        </p:nvSpPr>
        <p:spPr>
          <a:xfrm>
            <a:off x="-95401" y="13391999"/>
            <a:ext cx="24517082" cy="456842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819000">
              <a:defRPr spc="-1" sz="4800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pPr>
          </a:p>
        </p:txBody>
      </p:sp>
      <p:sp>
        <p:nvSpPr>
          <p:cNvPr id="21" name="Line"/>
          <p:cNvSpPr/>
          <p:nvPr/>
        </p:nvSpPr>
        <p:spPr>
          <a:xfrm>
            <a:off x="516957" y="1257119"/>
            <a:ext cx="23315763" cy="364"/>
          </a:xfrm>
          <a:prstGeom prst="line">
            <a:avLst/>
          </a:prstGeom>
          <a:ln w="12700">
            <a:solidFill>
              <a:srgbClr val="929292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22" name="Table"/>
          <p:cNvGraphicFramePr/>
          <p:nvPr/>
        </p:nvGraphicFramePr>
        <p:xfrm>
          <a:off x="57240" y="13373278"/>
          <a:ext cx="24275162" cy="353524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8091720"/>
                <a:gridCol w="8091720"/>
                <a:gridCol w="8091720"/>
              </a:tblGrid>
              <a:tr h="353520">
                <a:tc>
                  <a:txBody>
                    <a:bodyPr/>
                    <a:lstStyle/>
                    <a:p>
                      <a:pPr algn="l" defTabSz="1371600">
                        <a:defRPr spc="0" sz="1800"/>
                      </a:pPr>
                      <a:r>
                        <a:rPr spc="-1" sz="14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11/8/2021</a:t>
                      </a:r>
                    </a:p>
                  </a:txBody>
                  <a:tcPr marL="50760" marR="50760" marT="50760" marB="5076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1371600">
                        <a:defRPr spc="0" sz="1800"/>
                      </a:pPr>
                      <a:r>
                        <a:rPr spc="-1" sz="14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50760" marR="50760" marT="50760" marB="5076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defTabSz="1371600">
                        <a:defRPr spc="0" sz="1800"/>
                      </a:pPr>
                      <a:r>
                        <a:rPr spc="-1" sz="14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Apple Confidential</a:t>
                      </a:r>
                    </a:p>
                  </a:txBody>
                  <a:tcPr marL="50760" marR="50760" marT="50760" marB="5076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3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algn="l" defTabSz="914400">
              <a:defRPr spc="0" sz="180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24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5" name="Slide Number"/>
          <p:cNvSpPr txBox="1"/>
          <p:nvPr>
            <p:ph type="sldNum" sz="quarter" idx="2"/>
          </p:nvPr>
        </p:nvSpPr>
        <p:spPr>
          <a:xfrm>
            <a:off x="12407980" y="13390419"/>
            <a:ext cx="362800" cy="363384"/>
          </a:xfrm>
          <a:prstGeom prst="rect">
            <a:avLst/>
          </a:prstGeom>
        </p:spPr>
        <p:txBody>
          <a:bodyPr lIns="76320" tIns="76320" rIns="76320" bIns="76320" anchor="b"/>
          <a:lstStyle>
            <a:lvl1pPr defTabSz="819000">
              <a:defRPr sz="1400">
                <a:solidFill>
                  <a:srgbClr val="60606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"/>
          <p:cNvSpPr/>
          <p:nvPr/>
        </p:nvSpPr>
        <p:spPr>
          <a:xfrm>
            <a:off x="-88920" y="13398478"/>
            <a:ext cx="27075960" cy="469444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1238399">
              <a:defRPr spc="-1" sz="480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</a:p>
        </p:txBody>
      </p:sp>
      <p:sp>
        <p:nvSpPr>
          <p:cNvPr id="33" name="线条"/>
          <p:cNvSpPr/>
          <p:nvPr/>
        </p:nvSpPr>
        <p:spPr>
          <a:xfrm>
            <a:off x="516957" y="1244518"/>
            <a:ext cx="23315763" cy="4"/>
          </a:xfrm>
          <a:prstGeom prst="line">
            <a:avLst/>
          </a:prstGeom>
          <a:ln w="3175">
            <a:solidFill>
              <a:srgbClr val="929292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34" name="Table 1-1"/>
          <p:cNvGraphicFramePr/>
          <p:nvPr/>
        </p:nvGraphicFramePr>
        <p:xfrm>
          <a:off x="76320" y="13347720"/>
          <a:ext cx="24291361" cy="365044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8097119"/>
                <a:gridCol w="8097119"/>
                <a:gridCol w="8097119"/>
              </a:tblGrid>
              <a:tr h="365040">
                <a:tc>
                  <a:txBody>
                    <a:bodyPr/>
                    <a:lstStyle/>
                    <a:p>
                      <a:pPr>
                        <a:defRPr>
                          <a:sym typeface="Helvetica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pc="0" sz="1800"/>
                      </a:pPr>
                      <a:r>
                        <a:rPr spc="-1" sz="1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50760" marR="50760" marT="50760" marB="5076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defRPr spc="0" sz="1800"/>
                      </a:pPr>
                      <a:r>
                        <a:rPr spc="-1" sz="1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Manufacturing Design - Apple Confidential</a:t>
                      </a:r>
                    </a:p>
                  </a:txBody>
                  <a:tcPr marL="50760" marR="50760" marT="50760" marB="5076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5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algn="l" defTabSz="914400">
              <a:defRPr spc="0" sz="180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36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7" name="Slide Number"/>
          <p:cNvSpPr txBox="1"/>
          <p:nvPr>
            <p:ph type="sldNum" sz="quarter" idx="2"/>
          </p:nvPr>
        </p:nvSpPr>
        <p:spPr>
          <a:xfrm>
            <a:off x="12482582" y="13373278"/>
            <a:ext cx="283436" cy="287600"/>
          </a:xfrm>
          <a:prstGeom prst="rect">
            <a:avLst/>
          </a:prstGeom>
        </p:spPr>
        <p:txBody>
          <a:bodyPr>
            <a:normAutofit fontScale="100000" lnSpcReduction="0"/>
          </a:bodyPr>
          <a:lstStyle>
            <a:lvl1pPr defTabSz="1238399">
              <a:defRPr sz="1200">
                <a:solidFill>
                  <a:srgbClr val="53585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默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"/>
          <p:cNvSpPr/>
          <p:nvPr/>
        </p:nvSpPr>
        <p:spPr>
          <a:xfrm>
            <a:off x="-95401" y="13391999"/>
            <a:ext cx="24517082" cy="456842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819000">
              <a:defRPr spc="-1" sz="4800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pPr>
          </a:p>
        </p:txBody>
      </p:sp>
      <p:sp>
        <p:nvSpPr>
          <p:cNvPr id="45" name="Line"/>
          <p:cNvSpPr/>
          <p:nvPr/>
        </p:nvSpPr>
        <p:spPr>
          <a:xfrm>
            <a:off x="516957" y="1257119"/>
            <a:ext cx="23315763" cy="364"/>
          </a:xfrm>
          <a:prstGeom prst="line">
            <a:avLst/>
          </a:prstGeom>
          <a:ln w="12700">
            <a:solidFill>
              <a:srgbClr val="929292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46" name="Table"/>
          <p:cNvGraphicFramePr/>
          <p:nvPr/>
        </p:nvGraphicFramePr>
        <p:xfrm>
          <a:off x="57240" y="13373278"/>
          <a:ext cx="24275162" cy="349204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8091720"/>
                <a:gridCol w="8091720"/>
                <a:gridCol w="8091720"/>
              </a:tblGrid>
              <a:tr h="349200">
                <a:tc>
                  <a:txBody>
                    <a:bodyPr/>
                    <a:lstStyle/>
                    <a:p>
                      <a:pPr algn="l" defTabSz="819000">
                        <a:defRPr spc="0" sz="1800"/>
                      </a:pPr>
                      <a:r>
                        <a:rPr spc="-1" sz="1200">
                          <a:latin typeface="Helvetica Neue Light"/>
                          <a:ea typeface="Helvetica Neue Light"/>
                          <a:cs typeface="Helvetica Neue Light"/>
                        </a:rPr>
                        <a:t>11/8/2021</a:t>
                      </a:r>
                    </a:p>
                  </a:txBody>
                  <a:tcPr marL="50760" marR="50760" marT="50760" marB="5076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819000">
                        <a:defRPr spc="0" sz="1800"/>
                      </a:pPr>
                      <a:r>
                        <a:rPr spc="-1" sz="1200"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50760" marR="50760" marT="50760" marB="5076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defTabSz="819000">
                        <a:defRPr spc="0" sz="1800"/>
                      </a:pPr>
                      <a:r>
                        <a:rPr spc="-1" sz="1200">
                          <a:latin typeface="Helvetica Neue Light"/>
                          <a:ea typeface="Helvetica Neue Light"/>
                          <a:cs typeface="Helvetica Neue Light"/>
                        </a:rPr>
                        <a:t>Apple Confidential</a:t>
                      </a:r>
                    </a:p>
                  </a:txBody>
                  <a:tcPr marL="50760" marR="50760" marT="50760" marB="5076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algn="l" defTabSz="914400">
              <a:defRPr spc="0" sz="180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Slide Number"/>
          <p:cNvSpPr txBox="1"/>
          <p:nvPr>
            <p:ph type="sldNum" sz="quarter" idx="2"/>
          </p:nvPr>
        </p:nvSpPr>
        <p:spPr>
          <a:xfrm>
            <a:off x="12407980" y="13390419"/>
            <a:ext cx="362800" cy="363384"/>
          </a:xfrm>
          <a:prstGeom prst="rect">
            <a:avLst/>
          </a:prstGeom>
        </p:spPr>
        <p:txBody>
          <a:bodyPr lIns="76320" tIns="76320" rIns="76320" bIns="76320" anchor="b"/>
          <a:lstStyle>
            <a:lvl1pPr defTabSz="819000">
              <a:defRPr sz="1400">
                <a:solidFill>
                  <a:srgbClr val="60606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Apple Confidential–Internal Use Only"/>
          <p:cNvSpPr txBox="1"/>
          <p:nvPr/>
        </p:nvSpPr>
        <p:spPr>
          <a:xfrm>
            <a:off x="21313049" y="13372918"/>
            <a:ext cx="313203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b">
            <a:spAutoFit/>
          </a:bodyPr>
          <a:lstStyle>
            <a:lvl1pPr algn="r">
              <a:defRPr spc="-1"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Apple Confidential–Internal Use Only</a:t>
            </a:r>
          </a:p>
        </p:txBody>
      </p:sp>
      <p:pic>
        <p:nvPicPr>
          <p:cNvPr id="57" name="160927 Apple Logo Black JB.ai" descr="160927 Apple Logo Black JB.ai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43560" y="877678"/>
            <a:ext cx="1320124" cy="1320124"/>
          </a:xfrm>
          <a:prstGeom prst="rect">
            <a:avLst/>
          </a:prstGeom>
          <a:ln w="12700">
            <a:miter lim="400000"/>
          </a:ln>
        </p:spPr>
      </p:pic>
      <p:sp>
        <p:nvSpPr>
          <p:cNvPr id="5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algn="l" defTabSz="914400">
              <a:defRPr spc="0" sz="180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59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60" name="Slide Number"/>
          <p:cNvSpPr txBox="1"/>
          <p:nvPr>
            <p:ph type="sldNum" sz="quarter" idx="2"/>
          </p:nvPr>
        </p:nvSpPr>
        <p:spPr>
          <a:xfrm>
            <a:off x="23966220" y="13042799"/>
            <a:ext cx="325861" cy="330121"/>
          </a:xfrm>
          <a:prstGeom prst="rect">
            <a:avLst/>
          </a:prstGeom>
        </p:spPr>
        <p:txBody>
          <a:bodyPr/>
          <a:lstStyle>
            <a:lvl1pPr algn="r" defTabSz="914400">
              <a:defRPr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Apple Confidential–Internal Use Only"/>
          <p:cNvSpPr txBox="1"/>
          <p:nvPr/>
        </p:nvSpPr>
        <p:spPr>
          <a:xfrm>
            <a:off x="21313049" y="13372918"/>
            <a:ext cx="3132031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 anchor="b">
            <a:spAutoFit/>
          </a:bodyPr>
          <a:lstStyle>
            <a:lvl1pPr algn="r">
              <a:defRPr spc="-1"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Apple Confidential–Internal Use Only</a:t>
            </a:r>
          </a:p>
        </p:txBody>
      </p:sp>
      <p:sp>
        <p:nvSpPr>
          <p:cNvPr id="68" name="reliability engineering"/>
          <p:cNvSpPr txBox="1"/>
          <p:nvPr/>
        </p:nvSpPr>
        <p:spPr>
          <a:xfrm>
            <a:off x="214198" y="13372918"/>
            <a:ext cx="19290964" cy="228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>
              <a:defRPr spc="-1"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r>
              <a:t>reliability engineering</a:t>
            </a:r>
          </a:p>
        </p:txBody>
      </p:sp>
      <p:sp>
        <p:nvSpPr>
          <p:cNvPr id="69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algn="l" defTabSz="914400">
              <a:defRPr spc="0" sz="180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70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1" name="Slide Number"/>
          <p:cNvSpPr txBox="1"/>
          <p:nvPr>
            <p:ph type="sldNum" sz="quarter" idx="2"/>
          </p:nvPr>
        </p:nvSpPr>
        <p:spPr>
          <a:xfrm>
            <a:off x="23963702" y="13042799"/>
            <a:ext cx="325861" cy="330121"/>
          </a:xfrm>
          <a:prstGeom prst="rect">
            <a:avLst/>
          </a:prstGeom>
        </p:spPr>
        <p:txBody>
          <a:bodyPr/>
          <a:lstStyle>
            <a:lvl1pPr algn="r" defTabSz="914400">
              <a:defRPr sz="1500">
                <a:solidFill>
                  <a:srgbClr val="87939D"/>
                </a:solidFill>
                <a:latin typeface="SF Hello Regular"/>
                <a:ea typeface="SF Hello Regular"/>
                <a:cs typeface="SF Hello Regular"/>
                <a:sym typeface="SF Hello Regular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algn="l" defTabSz="914400">
              <a:defRPr spc="0" sz="180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79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algn="l" defTabSz="914400">
              <a:defRPr spc="0" sz="180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88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algn="l" defTabSz="914400">
              <a:defRPr spc="0" sz="180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97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9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algn="l" defTabSz="914400">
              <a:defRPr spc="0" sz="180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06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7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默认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algn="l" defTabSz="914400">
              <a:defRPr spc="0" sz="180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15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1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預設簡報設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线条"/>
          <p:cNvSpPr/>
          <p:nvPr/>
        </p:nvSpPr>
        <p:spPr>
          <a:xfrm>
            <a:off x="592921" y="880919"/>
            <a:ext cx="23197683" cy="4"/>
          </a:xfrm>
          <a:prstGeom prst="line">
            <a:avLst/>
          </a:prstGeom>
          <a:ln w="12700">
            <a:solidFill>
              <a:srgbClr val="929292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24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algn="l" defTabSz="914400">
              <a:defRPr spc="0" sz="180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25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26" name="Slide Number"/>
          <p:cNvSpPr txBox="1"/>
          <p:nvPr>
            <p:ph type="sldNum" sz="quarter" idx="2"/>
          </p:nvPr>
        </p:nvSpPr>
        <p:spPr>
          <a:xfrm>
            <a:off x="12085566" y="13161560"/>
            <a:ext cx="303108" cy="279401"/>
          </a:xfrm>
          <a:prstGeom prst="rect">
            <a:avLst/>
          </a:prstGeom>
        </p:spPr>
        <p:txBody>
          <a:bodyPr lIns="0" tIns="0" rIns="0" bIns="0" anchor="b"/>
          <a:lstStyle>
            <a:lvl1pPr defTabSz="584279">
              <a:defRPr sz="1800">
                <a:solidFill>
                  <a:srgbClr val="FFFFFF"/>
                </a:solidFill>
                <a:latin typeface="Verdana"/>
                <a:ea typeface="Verdana"/>
                <a:cs typeface="Verdana"/>
                <a:sym typeface="Verdan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algn="l" defTabSz="914400">
              <a:defRPr spc="0" sz="180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34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5" name="Slide Number"/>
          <p:cNvSpPr txBox="1"/>
          <p:nvPr>
            <p:ph type="sldNum" sz="quarter" idx="2"/>
          </p:nvPr>
        </p:nvSpPr>
        <p:spPr>
          <a:xfrm>
            <a:off x="17248749" y="12712700"/>
            <a:ext cx="452905" cy="460979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默认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ectangle"/>
          <p:cNvSpPr/>
          <p:nvPr/>
        </p:nvSpPr>
        <p:spPr>
          <a:xfrm>
            <a:off x="-95401" y="13391999"/>
            <a:ext cx="24517082" cy="456842"/>
          </a:xfrm>
          <a:prstGeom prst="rect">
            <a:avLst/>
          </a:prstGeom>
          <a:solidFill>
            <a:srgbClr val="D6D6D6"/>
          </a:solidFill>
          <a:ln w="12700">
            <a:miter lim="400000"/>
          </a:ln>
        </p:spPr>
        <p:txBody>
          <a:bodyPr lIns="0" tIns="0" rIns="0" bIns="0" anchor="ctr"/>
          <a:lstStyle/>
          <a:p>
            <a:pPr algn="ctr" defTabSz="819000">
              <a:defRPr spc="-1" sz="4800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pPr>
          </a:p>
        </p:txBody>
      </p:sp>
      <p:sp>
        <p:nvSpPr>
          <p:cNvPr id="143" name="Line"/>
          <p:cNvSpPr/>
          <p:nvPr/>
        </p:nvSpPr>
        <p:spPr>
          <a:xfrm>
            <a:off x="516957" y="1257119"/>
            <a:ext cx="23315763" cy="4"/>
          </a:xfrm>
          <a:prstGeom prst="line">
            <a:avLst/>
          </a:prstGeom>
          <a:ln w="3175">
            <a:solidFill>
              <a:srgbClr val="929292"/>
            </a:solidFill>
            <a:miter/>
          </a:ln>
        </p:spPr>
        <p:txBody>
          <a:bodyPr lIns="45718" tIns="45718" rIns="45718" bIns="45718"/>
          <a:lstStyle/>
          <a:p>
            <a:pPr/>
          </a:p>
        </p:txBody>
      </p:sp>
      <p:graphicFrame>
        <p:nvGraphicFramePr>
          <p:cNvPr id="144" name="Table"/>
          <p:cNvGraphicFramePr/>
          <p:nvPr/>
        </p:nvGraphicFramePr>
        <p:xfrm>
          <a:off x="57240" y="13373278"/>
          <a:ext cx="35204760" cy="512644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1734920"/>
                <a:gridCol w="11734920"/>
                <a:gridCol w="11734920"/>
              </a:tblGrid>
              <a:tr h="512639">
                <a:tc>
                  <a:txBody>
                    <a:bodyPr/>
                    <a:lstStyle/>
                    <a:p>
                      <a:pPr>
                        <a:defRPr>
                          <a:sym typeface="Helvetica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1371600">
                        <a:defRPr spc="0" sz="1800"/>
                      </a:pPr>
                      <a:r>
                        <a:rPr spc="-1" sz="2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Page</a:t>
                      </a:r>
                    </a:p>
                  </a:txBody>
                  <a:tcPr marL="50760" marR="50760" marT="50760" marB="5076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defTabSz="1371600">
                        <a:defRPr spc="0" sz="1800"/>
                      </a:pPr>
                      <a:r>
                        <a:rPr spc="-1" sz="2200">
                          <a:solidFill>
                            <a:srgbClr val="606060"/>
                          </a:solidFill>
                          <a:latin typeface="Helvetica Neue Light"/>
                          <a:ea typeface="Helvetica Neue Light"/>
                          <a:cs typeface="Helvetica Neue Light"/>
                        </a:rPr>
                        <a:t>Apple Confidential</a:t>
                      </a:r>
                    </a:p>
                  </a:txBody>
                  <a:tcPr marL="50760" marR="50760" marT="50760" marB="50760" anchor="ctr" anchorCtr="0" horzOverflow="overflow">
                    <a:lnL w="12700">
                      <a:miter lim="400000"/>
                    </a:lnL>
                    <a:lnR w="12700"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5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algn="l" defTabSz="914400">
              <a:defRPr spc="0" sz="1800"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146" name="Body Level One…"/>
          <p:cNvSpPr txBox="1"/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47" name="Slide Number"/>
          <p:cNvSpPr txBox="1"/>
          <p:nvPr>
            <p:ph type="sldNum" sz="quarter" idx="2"/>
          </p:nvPr>
        </p:nvSpPr>
        <p:spPr>
          <a:xfrm>
            <a:off x="11469722" y="9604842"/>
            <a:ext cx="334556" cy="338720"/>
          </a:xfrm>
          <a:prstGeom prst="rect">
            <a:avLst/>
          </a:prstGeom>
        </p:spPr>
        <p:txBody>
          <a:bodyPr lIns="76320" tIns="76320" rIns="76320" bIns="76320" anchor="b"/>
          <a:lstStyle>
            <a:lvl1pPr defTabSz="819000">
              <a:defRPr sz="1200">
                <a:solidFill>
                  <a:srgbClr val="60606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1206359" y="2575080"/>
            <a:ext cx="21970802" cy="464796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1201319" y="11859838"/>
            <a:ext cx="21970802" cy="6364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1959188" y="13080959"/>
            <a:ext cx="452905" cy="460980"/>
          </a:xfrm>
          <a:prstGeom prst="rect">
            <a:avLst/>
          </a:prstGeom>
          <a:ln w="12700">
            <a:miter lim="400000"/>
          </a:ln>
        </p:spPr>
        <p:txBody>
          <a:bodyPr wrap="none" lIns="50760" tIns="50760" rIns="50760" bIns="50760">
            <a:spAutoFit/>
          </a:bodyPr>
          <a:lstStyle>
            <a:lvl1pPr algn="ctr" defTabSz="825480">
              <a:defRPr spc="-1"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transition xmlns:p14="http://schemas.microsoft.com/office/powerpoint/2010/main" spd="med" advClick="1"/>
  <p:txStyles>
    <p:titleStyle>
      <a:lvl1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1pPr>
      <a:lvl2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2pPr>
      <a:lvl3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3pPr>
      <a:lvl4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4pPr>
      <a:lvl5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5pPr>
      <a:lvl6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6pPr>
      <a:lvl7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7pPr>
      <a:lvl8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8pPr>
      <a:lvl9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11200" u="none">
          <a:solidFill>
            <a:srgbClr val="000000"/>
          </a:solidFill>
          <a:uFillTx/>
          <a:latin typeface="Helvetica Neue Medium"/>
          <a:ea typeface="Helvetica Neue Medium"/>
          <a:cs typeface="Helvetica Neue Medium"/>
          <a:sym typeface="Helvetica Neue Medium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1pPr>
      <a:lvl2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2pPr>
      <a:lvl3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3pPr>
      <a:lvl4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4pPr>
      <a:lvl5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5pPr>
      <a:lvl6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6pPr>
      <a:lvl7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7pPr>
      <a:lvl8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8pPr>
      <a:lvl9pPr marL="0" marR="0" indent="0" algn="ctr" defTabSz="82548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-1" strike="noStrike" sz="2400" u="none">
          <a:solidFill>
            <a:schemeClr val="tx1"/>
          </a:solidFill>
          <a:uFillTx/>
          <a:latin typeface="+mn-lt"/>
          <a:ea typeface="+mn-ea"/>
          <a:cs typeface="+mn-cs"/>
          <a:sym typeface="Helvetica Neue Light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文字方塊 3"/>
          <p:cNvSpPr txBox="1"/>
          <p:nvPr/>
        </p:nvSpPr>
        <p:spPr>
          <a:xfrm>
            <a:off x="6506998" y="431999"/>
            <a:ext cx="11296445" cy="5587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 anchor="ctr">
            <a:spAutoFit/>
          </a:bodyPr>
          <a:lstStyle>
            <a:lvl1pPr algn="ctr" defTabSz="825480">
              <a:defRPr b="1" spc="-1" sz="3000">
                <a:latin typeface="微軟正黑體"/>
                <a:ea typeface="微軟正黑體"/>
                <a:cs typeface="微軟正黑體"/>
                <a:sym typeface="微軟正黑體"/>
              </a:defRPr>
            </a:lvl1pPr>
          </a:lstStyle>
          <a:p>
            <a:pPr/>
            <a:r>
              <a:t>8D Report</a:t>
            </a:r>
          </a:p>
        </p:txBody>
      </p:sp>
      <p:graphicFrame>
        <p:nvGraphicFramePr>
          <p:cNvPr id="157" name="表格 2"/>
          <p:cNvGraphicFramePr/>
          <p:nvPr/>
        </p:nvGraphicFramePr>
        <p:xfrm>
          <a:off x="4064039" y="1439279"/>
          <a:ext cx="16255802" cy="2966405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6255800"/>
              </a:tblGrid>
              <a:tr h="370800">
                <a:tc>
                  <a:txBody>
                    <a:bodyPr/>
                    <a:lstStyle/>
                    <a:p>
                      <a:pPr algn="l">
                        <a:defRPr b="1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D1：Establish the Team</a:t>
                      </a:r>
                      <a:endParaRPr sz="2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algn="l">
                        <a:defRPr sz="2000">
                          <a:latin typeface="Arial"/>
                          <a:ea typeface="Arial"/>
                          <a:cs typeface="Arial"/>
                          <a:sym typeface="Arial"/>
                        </a:defRPr>
                      </a:pPr>
                    </a:p>
                    <a:p>
                      <a:pPr algn="l">
                        <a:defRPr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{user input establish the team}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70800">
                <a:tc>
                  <a:txBody>
                    <a:bodyPr/>
                    <a:lstStyle/>
                    <a:p>
                      <a:pPr algn="l">
                        <a:defRPr b="1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D2：Describe the Problem</a:t>
                      </a:r>
                      <a:endParaRPr sz="2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algn="l">
                        <a:defRPr sz="2000">
                          <a:latin typeface="Arial"/>
                          <a:ea typeface="Arial"/>
                          <a:cs typeface="Arial"/>
                          <a:sym typeface="Arial"/>
                        </a:defRPr>
                      </a:pPr>
                    </a:p>
                    <a:p>
                      <a:pPr algn="l">
                        <a:defRPr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{user input description}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70800">
                <a:tc>
                  <a:txBody>
                    <a:bodyPr/>
                    <a:lstStyle/>
                    <a:p>
                      <a:pPr algn="l">
                        <a:defRPr b="1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D3：Containment Actions</a:t>
                      </a:r>
                      <a:endParaRPr sz="2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algn="l">
                        <a:defRPr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{Fill_in_predicted_containment}</a:t>
                      </a:r>
                      <a:endParaRPr sz="2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algn="l">
                        <a:defRPr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{user input containment}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70800">
                <a:tc>
                  <a:txBody>
                    <a:bodyPr/>
                    <a:lstStyle/>
                    <a:p>
                      <a:pPr algn="l">
                        <a:defRPr b="1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D4：Root Cause Analysis</a:t>
                      </a:r>
                      <a:endParaRPr sz="2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algn="l">
                        <a:defRPr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{Fill_in_predicted_causes}</a:t>
                      </a:r>
                      <a:endParaRPr sz="2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algn="l">
                        <a:defRPr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{user input causes}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70800">
                <a:tc>
                  <a:txBody>
                    <a:bodyPr/>
                    <a:lstStyle/>
                    <a:p>
                      <a:pPr algn="l">
                        <a:defRPr b="1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D5：Corrective Actions</a:t>
                      </a:r>
                      <a:endParaRPr sz="2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algn="l">
                        <a:defRPr sz="2000">
                          <a:latin typeface="Arial"/>
                          <a:ea typeface="Arial"/>
                          <a:cs typeface="Arial"/>
                          <a:sym typeface="Arial"/>
                        </a:defRPr>
                      </a:pPr>
                    </a:p>
                    <a:p>
                      <a:pPr algn="l">
                        <a:defRPr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{Fill_in_list_of_corrective_actions}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70800">
                <a:tc>
                  <a:txBody>
                    <a:bodyPr/>
                    <a:lstStyle/>
                    <a:p>
                      <a:pPr algn="l">
                        <a:defRPr b="1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D6：Preventive Actions</a:t>
                      </a:r>
                      <a:endParaRPr sz="2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algn="l">
                        <a:defRPr sz="2000">
                          <a:latin typeface="Arial"/>
                          <a:ea typeface="Arial"/>
                          <a:cs typeface="Arial"/>
                          <a:sym typeface="Arial"/>
                        </a:defRPr>
                      </a:pPr>
                    </a:p>
                    <a:p>
                      <a:pPr algn="l">
                        <a:defRPr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{Fill_in_list_of_preventive_actions}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70800">
                <a:tc>
                  <a:txBody>
                    <a:bodyPr/>
                    <a:lstStyle/>
                    <a:p>
                      <a:pPr algn="l">
                        <a:defRPr b="1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D7：Effectiveness Verification</a:t>
                      </a:r>
                      <a:endParaRPr sz="2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algn="l">
                        <a:defRPr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{Fill_in_verification}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370800">
                <a:tc>
                  <a:txBody>
                    <a:bodyPr/>
                    <a:lstStyle/>
                    <a:p>
                      <a:pPr algn="l">
                        <a:defRPr b="1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D8：Congratulate the Team</a:t>
                      </a:r>
                      <a:endParaRPr sz="20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algn="l">
                        <a:defRPr sz="1200">
                          <a:latin typeface="微軟正黑體"/>
                          <a:ea typeface="微軟正黑體"/>
                          <a:cs typeface="微軟正黑體"/>
                          <a:sym typeface="微軟正黑體"/>
                        </a:defRPr>
                      </a:pPr>
                      <a:r>
                        <a:t>{user input congratulate}</a:t>
                      </a:r>
                    </a:p>
                  </a:txBody>
                  <a:tcPr marL="45720" marR="45720" marT="45720" marB="45720" anchor="t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TextBox 1"/>
          <p:cNvSpPr txBox="1"/>
          <p:nvPr/>
        </p:nvSpPr>
        <p:spPr>
          <a:xfrm>
            <a:off x="559457" y="452659"/>
            <a:ext cx="1640841" cy="624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30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参考资料</a:t>
            </a:r>
          </a:p>
        </p:txBody>
      </p:sp>
      <p:sp>
        <p:nvSpPr>
          <p:cNvPr id="160" name="TextBox 2"/>
          <p:cNvSpPr txBox="1"/>
          <p:nvPr/>
        </p:nvSpPr>
        <p:spPr>
          <a:xfrm>
            <a:off x="642619" y="1714499"/>
            <a:ext cx="9624061" cy="2775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{Related_text}</a:t>
            </a:r>
          </a:p>
        </p:txBody>
      </p:sp>
      <p:sp>
        <p:nvSpPr>
          <p:cNvPr id="161" name="TextBox 3"/>
          <p:cNvSpPr txBox="1"/>
          <p:nvPr/>
        </p:nvSpPr>
        <p:spPr>
          <a:xfrm>
            <a:off x="11671300" y="1739899"/>
            <a:ext cx="11783067" cy="2775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 sz="12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{Related_text_2}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